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377440"/>
            <a:ext cx="5943600" cy="5943600"/>
          </a:xfrm>
          <a:prstGeom prst="ellipse">
            <a:avLst/>
          </a:prstGeom>
          <a:solidFill>
            <a:srgbClr val="CBB7E6">
              <a:alpha val="4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468880"/>
            <a:ext cx="6400800" cy="6400800"/>
          </a:xfrm>
          <a:prstGeom prst="ellipse">
            <a:avLst/>
          </a:prstGeom>
          <a:solidFill>
            <a:srgbClr val="A9B8A3">
              <a:alpha val="3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-1645920"/>
            <a:ext cx="3291840" cy="3291840"/>
          </a:xfrm>
          <a:prstGeom prst="ellipse">
            <a:avLst/>
          </a:prstGeom>
          <a:solidFill>
            <a:srgbClr val="E8D6DD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166360" y="960120"/>
            <a:ext cx="1828800" cy="1828800"/>
          </a:xfrm>
          <a:prstGeom prst="ellipse">
            <a:avLst/>
          </a:prstGeom>
          <a:solidFill>
            <a:srgbClr val="F8F6F2"/>
          </a:solidFill>
          <a:ln w="12700">
            <a:solidFill>
              <a:srgbClr val="C8A86B"/>
            </a:solidFill>
            <a:prstDash val="solid"/>
          </a:ln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pic>
        <p:nvPicPr>
          <p:cNvPr id="6" name="Image 0" descr="assets/lotu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371600"/>
            <a:ext cx="1005840" cy="1005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0632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spc="600" kern="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SHANTI ESSENCE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A8884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Conecta con tu esencia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AROMATERAPIA  ·  ACEITES ESENCIALES NATURALES  ·  BIENESTAR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598932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spc="600" kern="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BRAND BOOK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280160"/>
            <a:ext cx="2926080" cy="2926080"/>
          </a:xfrm>
          <a:prstGeom prst="ellipse">
            <a:avLst/>
          </a:prstGeom>
          <a:solidFill>
            <a:srgbClr val="E8D6D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937760"/>
            <a:ext cx="2743200" cy="2743200"/>
          </a:xfrm>
          <a:prstGeom prst="ellipse">
            <a:avLst/>
          </a:prstGeom>
          <a:solidFill>
            <a:srgbClr val="CBB7E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5760720"/>
            <a:ext cx="1463040" cy="1463040"/>
          </a:xfrm>
          <a:prstGeom prst="ellipse">
            <a:avLst/>
          </a:prstGeom>
          <a:solidFill>
            <a:srgbClr val="A9B8A3">
              <a:alpha val="3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A888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MARCA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Lujo orgánico inspirado</a:t>
            </a:r>
            <a:endParaRPr lang="en-US" sz="40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 la serenidad del mar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61264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Shanti Essence es una marca de aceites esenciales 100% naturales, creada para ayudar a las personas a transformar sus rituales diarios en momentos de calma, relajación y conexión interior.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Unimos la pureza de la naturaleza con una estética de lujo orgánico, donde cada detalle transmite elegancia, serenidad y bienestar.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680960" y="1097280"/>
            <a:ext cx="3657600" cy="448056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pic>
        <p:nvPicPr>
          <p:cNvPr id="9" name="Image 0" descr="assets/sparkl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155448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955280" y="23317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A8884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Más que un aceite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092440" y="2971800"/>
            <a:ext cx="2834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vendemos solamente aceites esenciales. Ofrecemos momentos de calma, bienestar y conexión personal a través de experiencias sensoriales inspiradas en la naturaleza.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0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556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931920"/>
            <a:ext cx="5029200" cy="5029200"/>
          </a:xfrm>
          <a:prstGeom prst="ellipse">
            <a:avLst/>
          </a:prstGeom>
          <a:solidFill>
            <a:srgbClr val="7E8F7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052560" y="-1737360"/>
            <a:ext cx="4206240" cy="4206240"/>
          </a:xfrm>
          <a:prstGeom prst="ellipse">
            <a:avLst/>
          </a:prstGeom>
          <a:solidFill>
            <a:srgbClr val="6E5B91">
              <a:alpha val="45000"/>
            </a:srgbClr>
          </a:solidFill>
          <a:ln/>
        </p:spPr>
      </p:sp>
      <p:pic>
        <p:nvPicPr>
          <p:cNvPr id="4" name="Image 0" descr="assets/leaf_iv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91440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828800"/>
            <a:ext cx="10332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0" kern="0" dirty="0">
                <a:solidFill>
                  <a:srgbClr val="C8A8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MENSAJE CENTRAL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914400" y="2377440"/>
            <a:ext cx="10332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4400" i="1" dirty="0">
                <a:solidFill>
                  <a:srgbClr val="F8F6F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“Calma, bienestar y conexión</a:t>
            </a:r>
            <a:endParaRPr lang="en-US" sz="44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4400" i="1" dirty="0">
                <a:solidFill>
                  <a:srgbClr val="F8F6F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en cada gota.”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2194560" y="438912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8D6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página y la marca deben transmitir elegancia, serenidad y lujo orgánico en cada detalle: como si el usuario hubiera llegado a un spa de lujo frente al mar.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155680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280160"/>
            <a:ext cx="2926080" cy="2926080"/>
          </a:xfrm>
          <a:prstGeom prst="ellipse">
            <a:avLst/>
          </a:prstGeom>
          <a:solidFill>
            <a:srgbClr val="A9B8A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937760"/>
            <a:ext cx="2743200" cy="2743200"/>
          </a:xfrm>
          <a:prstGeom prst="ellipse">
            <a:avLst/>
          </a:prstGeom>
          <a:solidFill>
            <a:srgbClr val="E8D6D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5760720"/>
            <a:ext cx="1463040" cy="1463040"/>
          </a:xfrm>
          <a:prstGeom prst="ellipse">
            <a:avLst/>
          </a:prstGeom>
          <a:solidFill>
            <a:srgbClr val="CBB7E6">
              <a:alpha val="3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A888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PERFIL DEL CLIENTE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Para quién creamos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143000" y="2286000"/>
            <a:ext cx="822960" cy="822960"/>
          </a:xfrm>
          <a:prstGeom prst="ellipse">
            <a:avLst/>
          </a:prstGeom>
          <a:solidFill>
            <a:srgbClr val="E8D6DD">
              <a:alpha val="75000"/>
            </a:srgbClr>
          </a:solidFill>
          <a:ln/>
        </p:spPr>
      </p:sp>
      <p:pic>
        <p:nvPicPr>
          <p:cNvPr id="9" name="Image 0" descr="assets/heart_pin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450592"/>
            <a:ext cx="493776" cy="49377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148840" y="22860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888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PÚBLICO PRINCIPAL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88720" y="3200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Mujeres de 35 a 65 años</a:t>
            </a:r>
            <a:endParaRPr lang="en-US" sz="2300" dirty="0"/>
          </a:p>
        </p:txBody>
      </p:sp>
      <p:sp>
        <p:nvSpPr>
          <p:cNvPr id="12" name="Text 9"/>
          <p:cNvSpPr/>
          <p:nvPr/>
        </p:nvSpPr>
        <p:spPr>
          <a:xfrm>
            <a:off x="1188720" y="3767328"/>
            <a:ext cx="44348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Conectadas con un estilo de vida consciente, buscan productos naturales que las acompañen en su autocuidado diario.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188720" y="47365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INTERESES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188720" y="5074920"/>
            <a:ext cx="777240" cy="384048"/>
          </a:xfrm>
          <a:prstGeom prst="roundRect">
            <a:avLst>
              <a:gd name="adj" fmla="val 50000"/>
            </a:avLst>
          </a:prstGeom>
          <a:solidFill>
            <a:srgbClr val="A9B8A3">
              <a:alpha val="45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1188720" y="5074920"/>
            <a:ext cx="777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2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Yoga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2112264" y="507492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A9B8A3">
              <a:alpha val="45000"/>
            </a:srgbClr>
          </a:solidFill>
          <a:ln/>
        </p:spPr>
      </p:sp>
      <p:sp>
        <p:nvSpPr>
          <p:cNvPr id="17" name="Text 14"/>
          <p:cNvSpPr/>
          <p:nvPr/>
        </p:nvSpPr>
        <p:spPr>
          <a:xfrm>
            <a:off x="2112264" y="507492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2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Meditación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3584448" y="5074920"/>
            <a:ext cx="1371600" cy="384048"/>
          </a:xfrm>
          <a:prstGeom prst="roundRect">
            <a:avLst>
              <a:gd name="adj" fmla="val 50000"/>
            </a:avLst>
          </a:prstGeom>
          <a:solidFill>
            <a:srgbClr val="A9B8A3">
              <a:alpha val="45000"/>
            </a:srgbClr>
          </a:solidFill>
          <a:ln/>
        </p:spPr>
      </p:sp>
      <p:sp>
        <p:nvSpPr>
          <p:cNvPr id="19" name="Text 16"/>
          <p:cNvSpPr/>
          <p:nvPr/>
        </p:nvSpPr>
        <p:spPr>
          <a:xfrm>
            <a:off x="3584448" y="507492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2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Aromaterapia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1188720" y="5577840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A9B8A3">
              <a:alpha val="45000"/>
            </a:srgbClr>
          </a:solidFill>
          <a:ln/>
        </p:spPr>
      </p:sp>
      <p:sp>
        <p:nvSpPr>
          <p:cNvPr id="21" name="Text 18"/>
          <p:cNvSpPr/>
          <p:nvPr/>
        </p:nvSpPr>
        <p:spPr>
          <a:xfrm>
            <a:off x="1188720" y="5577840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2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Autocuidado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2660904" y="5577840"/>
            <a:ext cx="1143000" cy="384048"/>
          </a:xfrm>
          <a:prstGeom prst="roundRect">
            <a:avLst>
              <a:gd name="adj" fmla="val 50000"/>
            </a:avLst>
          </a:prstGeom>
          <a:solidFill>
            <a:srgbClr val="A9B8A3">
              <a:alpha val="45000"/>
            </a:srgbClr>
          </a:solidFill>
          <a:ln/>
        </p:spPr>
      </p:sp>
      <p:sp>
        <p:nvSpPr>
          <p:cNvPr id="23" name="Text 20"/>
          <p:cNvSpPr/>
          <p:nvPr/>
        </p:nvSpPr>
        <p:spPr>
          <a:xfrm>
            <a:off x="2660904" y="55778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2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Bienestar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3950208" y="557784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A9B8A3">
              <a:alpha val="45000"/>
            </a:srgbClr>
          </a:solidFill>
          <a:ln/>
        </p:spPr>
      </p:sp>
      <p:sp>
        <p:nvSpPr>
          <p:cNvPr id="25" name="Text 22"/>
          <p:cNvSpPr/>
          <p:nvPr/>
        </p:nvSpPr>
        <p:spPr>
          <a:xfrm>
            <a:off x="3950208" y="557784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562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Salud natural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126480" y="1965960"/>
            <a:ext cx="5212080" cy="4114800"/>
          </a:xfrm>
          <a:prstGeom prst="roundRect">
            <a:avLst>
              <a:gd name="adj" fmla="val 4000"/>
            </a:avLst>
          </a:prstGeom>
          <a:solidFill>
            <a:srgbClr val="A9B8A3">
              <a:alpha val="22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6446520" y="2286000"/>
            <a:ext cx="868680" cy="868680"/>
          </a:xfrm>
          <a:prstGeom prst="ellipse">
            <a:avLst/>
          </a:prstGeom>
          <a:solidFill>
            <a:srgbClr val="FFFFFF">
              <a:alpha val="90000"/>
            </a:srgbClr>
          </a:solidFill>
          <a:ln/>
        </p:spPr>
      </p:sp>
      <p:pic>
        <p:nvPicPr>
          <p:cNvPr id="28" name="Image 1" descr="assets/users_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468880"/>
            <a:ext cx="502920" cy="5029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7543800" y="23317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88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Público secundario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7543800" y="2670048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Aliados de marca</a:t>
            </a:r>
            <a:endParaRPr lang="en-US" sz="2200" dirty="0"/>
          </a:p>
        </p:txBody>
      </p:sp>
      <p:pic>
        <p:nvPicPr>
          <p:cNvPr id="31" name="Image 2" descr="assets/store_s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3429000"/>
            <a:ext cx="384048" cy="384048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7040880" y="334670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2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Spas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7040880" y="3621024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Espacios de relajación y bienestar premium</a:t>
            </a:r>
            <a:endParaRPr lang="en-US" sz="1050" dirty="0"/>
          </a:p>
        </p:txBody>
      </p:sp>
      <p:pic>
        <p:nvPicPr>
          <p:cNvPr id="34" name="Image 3" descr="assets/plant_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105656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040880" y="40233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2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Estudios de yoga</a:t>
            </a:r>
            <a:endParaRPr lang="en-US" sz="1300" dirty="0"/>
          </a:p>
        </p:txBody>
      </p:sp>
      <p:sp>
        <p:nvSpPr>
          <p:cNvPr id="36" name="Text 30"/>
          <p:cNvSpPr/>
          <p:nvPr/>
        </p:nvSpPr>
        <p:spPr>
          <a:xfrm>
            <a:off x="7040880" y="4297680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Comunidades de práctica consciente</a:t>
            </a:r>
            <a:endParaRPr lang="en-US" sz="1050" dirty="0"/>
          </a:p>
        </p:txBody>
      </p:sp>
      <p:pic>
        <p:nvPicPr>
          <p:cNvPr id="37" name="Image 4" descr="assets/lotus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4782312"/>
            <a:ext cx="384048" cy="384048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040880" y="470001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2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Centros holísticos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7040880" y="4974336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Terapias naturales y alternativas</a:t>
            </a:r>
            <a:endParaRPr lang="en-US" sz="1050" dirty="0"/>
          </a:p>
        </p:txBody>
      </p:sp>
      <p:pic>
        <p:nvPicPr>
          <p:cNvPr id="40" name="Image 5" descr="assets/handheart_lav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5458968"/>
            <a:ext cx="384048" cy="384048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7040880" y="537667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62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Adultos mayores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7040880" y="565099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Bienestar y calidad de vida</a:t>
            </a:r>
            <a:endParaRPr lang="en-US" sz="1050" dirty="0"/>
          </a:p>
        </p:txBody>
      </p:sp>
      <p:sp>
        <p:nvSpPr>
          <p:cNvPr id="43" name="Text 35"/>
          <p:cNvSpPr/>
          <p:nvPr/>
        </p:nvSpPr>
        <p:spPr>
          <a:xfrm>
            <a:off x="11155680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280160"/>
            <a:ext cx="2926080" cy="2926080"/>
          </a:xfrm>
          <a:prstGeom prst="ellipse">
            <a:avLst/>
          </a:prstGeom>
          <a:solidFill>
            <a:srgbClr val="CBB7E6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937760"/>
            <a:ext cx="2743200" cy="2743200"/>
          </a:xfrm>
          <a:prstGeom prst="ellipse">
            <a:avLst/>
          </a:prstGeom>
          <a:solidFill>
            <a:srgbClr val="A9B8A3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5760720"/>
            <a:ext cx="1463040" cy="1463040"/>
          </a:xfrm>
          <a:prstGeom prst="ellipse">
            <a:avLst/>
          </a:prstGeom>
          <a:solidFill>
            <a:srgbClr val="E8D6DD">
              <a:alpha val="3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A888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PERSONALIDAD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Cómo se siente la marca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23317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604772" y="2167128"/>
            <a:ext cx="768096" cy="768096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9" name="Image 0" descr="assets/sparkle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1076" y="2313432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Elegante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447288" y="1965960"/>
            <a:ext cx="23317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29100" y="2167128"/>
            <a:ext cx="768096" cy="768096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13" name="Image 1" descr="assets/leaf_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5404" y="2313432"/>
            <a:ext cx="475488" cy="47548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47288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Serena</a:t>
            </a:r>
            <a:endParaRPr lang="en-US" sz="2000" dirty="0"/>
          </a:p>
        </p:txBody>
      </p:sp>
      <p:sp>
        <p:nvSpPr>
          <p:cNvPr id="15" name="Shape 11"/>
          <p:cNvSpPr/>
          <p:nvPr/>
        </p:nvSpPr>
        <p:spPr>
          <a:xfrm>
            <a:off x="6071616" y="1965960"/>
            <a:ext cx="23317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3428" y="2167128"/>
            <a:ext cx="768096" cy="768096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17" name="Image 2" descr="assets/lotus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9732" y="2313432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071616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Premium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8695944" y="1965960"/>
            <a:ext cx="23317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9477756" y="2167128"/>
            <a:ext cx="768096" cy="768096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21" name="Image 3" descr="assets/plant_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4060" y="2313432"/>
            <a:ext cx="475488" cy="4754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95944" y="2926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Natural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822960" y="3675888"/>
            <a:ext cx="23317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604772" y="3877056"/>
            <a:ext cx="768096" cy="768096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25" name="Image 4" descr="assets/heart_pin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1076" y="4023360"/>
            <a:ext cx="475488" cy="4754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22960" y="4636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Femenina</a:t>
            </a:r>
            <a:endParaRPr lang="en-US" sz="2000" dirty="0"/>
          </a:p>
        </p:txBody>
      </p:sp>
      <p:sp>
        <p:nvSpPr>
          <p:cNvPr id="27" name="Shape 20"/>
          <p:cNvSpPr/>
          <p:nvPr/>
        </p:nvSpPr>
        <p:spPr>
          <a:xfrm>
            <a:off x="3447288" y="3675888"/>
            <a:ext cx="23317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4229100" y="3877056"/>
            <a:ext cx="768096" cy="768096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29" name="Image 5" descr="assets/moon_lav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75404" y="4023360"/>
            <a:ext cx="475488" cy="47548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3447288" y="4636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Sofisticada</a:t>
            </a:r>
            <a:endParaRPr lang="en-US" sz="2000" dirty="0"/>
          </a:p>
        </p:txBody>
      </p:sp>
      <p:sp>
        <p:nvSpPr>
          <p:cNvPr id="31" name="Shape 23"/>
          <p:cNvSpPr/>
          <p:nvPr/>
        </p:nvSpPr>
        <p:spPr>
          <a:xfrm>
            <a:off x="6071616" y="3675888"/>
            <a:ext cx="2331720" cy="1417320"/>
          </a:xfrm>
          <a:prstGeom prst="roundRect">
            <a:avLst>
              <a:gd name="adj" fmla="val 90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32" name="Shape 24"/>
          <p:cNvSpPr/>
          <p:nvPr/>
        </p:nvSpPr>
        <p:spPr>
          <a:xfrm>
            <a:off x="6853428" y="3877056"/>
            <a:ext cx="768096" cy="768096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33" name="Image 6" descr="assets/sun_go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9732" y="4023360"/>
            <a:ext cx="475488" cy="47548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071616" y="463600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Inspiradora</a:t>
            </a:r>
            <a:endParaRPr lang="en-US" sz="2000" dirty="0"/>
          </a:p>
        </p:txBody>
      </p:sp>
      <p:sp>
        <p:nvSpPr>
          <p:cNvPr id="35" name="Shape 26"/>
          <p:cNvSpPr/>
          <p:nvPr/>
        </p:nvSpPr>
        <p:spPr>
          <a:xfrm>
            <a:off x="8695944" y="3675888"/>
            <a:ext cx="2331720" cy="1417320"/>
          </a:xfrm>
          <a:prstGeom prst="roundRect">
            <a:avLst>
              <a:gd name="adj" fmla="val 9032"/>
            </a:avLst>
          </a:prstGeom>
          <a:solidFill>
            <a:srgbClr val="E8D6DD">
              <a:alpha val="70000"/>
            </a:srgbClr>
          </a:solidFill>
          <a:ln/>
        </p:spPr>
      </p:sp>
      <p:sp>
        <p:nvSpPr>
          <p:cNvPr id="36" name="Text 27"/>
          <p:cNvSpPr/>
          <p:nvPr/>
        </p:nvSpPr>
        <p:spPr>
          <a:xfrm>
            <a:off x="8695944" y="384048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A888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EVITAR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8833104" y="4151376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Clínico · Farmacéutico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Agresivo · Industrial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Colores oscuros</a:t>
            </a:r>
            <a:endParaRPr lang="en-US" sz="1100" dirty="0"/>
          </a:p>
        </p:txBody>
      </p:sp>
      <p:sp>
        <p:nvSpPr>
          <p:cNvPr id="38" name="Text 29"/>
          <p:cNvSpPr/>
          <p:nvPr/>
        </p:nvSpPr>
        <p:spPr>
          <a:xfrm>
            <a:off x="11155680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BB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8F6F2">
              <a:alpha val="6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3383280"/>
            <a:ext cx="5669280" cy="5669280"/>
          </a:xfrm>
          <a:prstGeom prst="ellipse">
            <a:avLst/>
          </a:prstGeom>
          <a:solidFill>
            <a:srgbClr val="A9B8A3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E8D6DD">
              <a:alpha val="6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85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6E5B9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EXPERIENCIA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097280"/>
            <a:ext cx="5852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i="1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“Como llegar a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i="1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un spa de lujo</a:t>
            </a:r>
            <a:endParaRPr lang="en-US" sz="38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3800" i="1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frente al mar.”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822960" y="3794760"/>
            <a:ext cx="5669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punto de contacto con la marca debe despertar una sensación inmediata de bienestar y exclusividad accesible.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60920" y="1234440"/>
            <a:ext cx="4526280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525512" y="1353312"/>
            <a:ext cx="402336" cy="402336"/>
          </a:xfrm>
          <a:prstGeom prst="ellipse">
            <a:avLst/>
          </a:prstGeom>
          <a:solidFill>
            <a:srgbClr val="F8F6F2"/>
          </a:solidFill>
          <a:ln w="6350">
            <a:solidFill>
              <a:srgbClr val="C8A86B"/>
            </a:solidFill>
            <a:prstDash val="solid"/>
          </a:ln>
        </p:spPr>
      </p:sp>
      <p:pic>
        <p:nvPicPr>
          <p:cNvPr id="10" name="Image 0" descr="assets/wind_s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143560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38160" y="123444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Calma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7360920" y="2020824"/>
            <a:ext cx="4526280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525512" y="2139696"/>
            <a:ext cx="402336" cy="402336"/>
          </a:xfrm>
          <a:prstGeom prst="ellipse">
            <a:avLst/>
          </a:prstGeom>
          <a:solidFill>
            <a:srgbClr val="F8F6F2"/>
          </a:solidFill>
          <a:ln w="6350">
            <a:solidFill>
              <a:srgbClr val="C8A86B"/>
            </a:solidFill>
            <a:prstDash val="solid"/>
          </a:ln>
        </p:spPr>
      </p:sp>
      <p:pic>
        <p:nvPicPr>
          <p:cNvPr id="14" name="Image 1" descr="assets/lotus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08" y="2221992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138160" y="2020824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Armonía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7360920" y="2807208"/>
            <a:ext cx="4526280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525512" y="2926080"/>
            <a:ext cx="402336" cy="402336"/>
          </a:xfrm>
          <a:prstGeom prst="ellipse">
            <a:avLst/>
          </a:prstGeom>
          <a:solidFill>
            <a:srgbClr val="F8F6F2"/>
          </a:solidFill>
          <a:ln w="6350">
            <a:solidFill>
              <a:srgbClr val="C8A86B"/>
            </a:solidFill>
            <a:prstDash val="solid"/>
          </a:ln>
        </p:spPr>
      </p:sp>
      <p:pic>
        <p:nvPicPr>
          <p:cNvPr id="18" name="Image 2" descr="assets/handheart_lav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08" y="3008376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38160" y="280720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Confianza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7360920" y="3593592"/>
            <a:ext cx="4526280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525512" y="3712464"/>
            <a:ext cx="402336" cy="402336"/>
          </a:xfrm>
          <a:prstGeom prst="ellipse">
            <a:avLst/>
          </a:prstGeom>
          <a:solidFill>
            <a:srgbClr val="F8F6F2"/>
          </a:solidFill>
          <a:ln w="6350">
            <a:solidFill>
              <a:srgbClr val="C8A86B"/>
            </a:solidFill>
            <a:prstDash val="solid"/>
          </a:ln>
        </p:spPr>
      </p:sp>
      <p:pic>
        <p:nvPicPr>
          <p:cNvPr id="22" name="Image 3" descr="assets/drop_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08" y="3794760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138160" y="3593592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Relajación</a:t>
            </a:r>
            <a:endParaRPr lang="en-US" sz="2200" dirty="0"/>
          </a:p>
        </p:txBody>
      </p:sp>
      <p:sp>
        <p:nvSpPr>
          <p:cNvPr id="24" name="Shape 18"/>
          <p:cNvSpPr/>
          <p:nvPr/>
        </p:nvSpPr>
        <p:spPr>
          <a:xfrm>
            <a:off x="7360920" y="4379976"/>
            <a:ext cx="4526280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525512" y="4498848"/>
            <a:ext cx="402336" cy="402336"/>
          </a:xfrm>
          <a:prstGeom prst="ellipse">
            <a:avLst/>
          </a:prstGeom>
          <a:solidFill>
            <a:srgbClr val="F8F6F2"/>
          </a:solidFill>
          <a:ln w="6350">
            <a:solidFill>
              <a:srgbClr val="C8A86B"/>
            </a:solidFill>
            <a:prstDash val="solid"/>
          </a:ln>
        </p:spPr>
      </p:sp>
      <p:pic>
        <p:nvPicPr>
          <p:cNvPr id="26" name="Image 4" descr="assets/sparkle_gol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07808" y="4581144"/>
            <a:ext cx="237744" cy="23774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138160" y="4379976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Bienestar</a:t>
            </a:r>
            <a:endParaRPr lang="en-US" sz="2200" dirty="0"/>
          </a:p>
        </p:txBody>
      </p:sp>
      <p:sp>
        <p:nvSpPr>
          <p:cNvPr id="28" name="Shape 21"/>
          <p:cNvSpPr/>
          <p:nvPr/>
        </p:nvSpPr>
        <p:spPr>
          <a:xfrm>
            <a:off x="7360920" y="5166360"/>
            <a:ext cx="4526280" cy="640080"/>
          </a:xfrm>
          <a:prstGeom prst="roundRect">
            <a:avLst>
              <a:gd name="adj" fmla="val 17143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7525512" y="5285232"/>
            <a:ext cx="402336" cy="402336"/>
          </a:xfrm>
          <a:prstGeom prst="ellipse">
            <a:avLst/>
          </a:prstGeom>
          <a:solidFill>
            <a:srgbClr val="F8F6F2"/>
          </a:solidFill>
          <a:ln w="6350">
            <a:solidFill>
              <a:srgbClr val="C8A86B"/>
            </a:solidFill>
            <a:prstDash val="solid"/>
          </a:ln>
        </p:spPr>
      </p:sp>
      <p:pic>
        <p:nvPicPr>
          <p:cNvPr id="30" name="Image 5" descr="assets/sun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07808" y="5367528"/>
            <a:ext cx="237744" cy="23774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138160" y="5166360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Exclusividad</a:t>
            </a:r>
            <a:endParaRPr lang="en-US" sz="2200" dirty="0"/>
          </a:p>
        </p:txBody>
      </p:sp>
      <p:sp>
        <p:nvSpPr>
          <p:cNvPr id="32" name="Text 24"/>
          <p:cNvSpPr/>
          <p:nvPr/>
        </p:nvSpPr>
        <p:spPr>
          <a:xfrm>
            <a:off x="11155680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A888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IDENTIDAD VISUAL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Paleta de color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1783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Tonos suaves, luminosos y naturales que evocan serenidad y lujo orgánico.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22960" y="2468880"/>
            <a:ext cx="1883664" cy="3291840"/>
          </a:xfrm>
          <a:prstGeom prst="roundRect">
            <a:avLst>
              <a:gd name="adj" fmla="val 6796"/>
            </a:avLst>
          </a:prstGeom>
          <a:solidFill>
            <a:srgbClr val="CBB7E6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4709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1B2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Lavanda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14400" y="5212080"/>
            <a:ext cx="1700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1E1B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#CBB7E6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80944" y="2468880"/>
            <a:ext cx="1883664" cy="3291840"/>
          </a:xfrm>
          <a:prstGeom prst="roundRect">
            <a:avLst>
              <a:gd name="adj" fmla="val 6796"/>
            </a:avLst>
          </a:prstGeom>
          <a:solidFill>
            <a:srgbClr val="A9B8A3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072384" y="4709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E1B24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Verde Salvia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072384" y="5212080"/>
            <a:ext cx="1700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1E1B2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#A9B8A3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138928" y="2468880"/>
            <a:ext cx="1883664" cy="3291840"/>
          </a:xfrm>
          <a:prstGeom prst="roundRect">
            <a:avLst>
              <a:gd name="adj" fmla="val 6796"/>
            </a:avLst>
          </a:prstGeom>
          <a:solidFill>
            <a:srgbClr val="F8F6F2"/>
          </a:solidFill>
          <a:ln w="12700">
            <a:solidFill>
              <a:srgbClr val="E6E2DA"/>
            </a:solidFill>
            <a:prstDash val="solid"/>
          </a:ln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30368" y="4709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4A464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Blanco Marfil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5230368" y="5212080"/>
            <a:ext cx="1700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#F8F6F2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96912" y="2468880"/>
            <a:ext cx="1883664" cy="3291840"/>
          </a:xfrm>
          <a:prstGeom prst="roundRect">
            <a:avLst>
              <a:gd name="adj" fmla="val 6796"/>
            </a:avLst>
          </a:prstGeom>
          <a:solidFill>
            <a:srgbClr val="C8A86B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388352" y="4709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Dorado Suave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7388352" y="5212080"/>
            <a:ext cx="1700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#C8A86B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454896" y="2468880"/>
            <a:ext cx="1883664" cy="3291840"/>
          </a:xfrm>
          <a:prstGeom prst="roundRect">
            <a:avLst>
              <a:gd name="adj" fmla="val 6796"/>
            </a:avLst>
          </a:prstGeom>
          <a:solidFill>
            <a:srgbClr val="E8D6DD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546336" y="470916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4A4640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Rosa Pétalo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546336" y="5212080"/>
            <a:ext cx="17007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#E8D6DD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0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280160"/>
            <a:ext cx="2926080" cy="2926080"/>
          </a:xfrm>
          <a:prstGeom prst="ellipse">
            <a:avLst/>
          </a:prstGeom>
          <a:solidFill>
            <a:srgbClr val="E8D6DD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937760"/>
            <a:ext cx="2743200" cy="2743200"/>
          </a:xfrm>
          <a:prstGeom prst="ellipse">
            <a:avLst/>
          </a:prstGeom>
          <a:solidFill>
            <a:srgbClr val="CBB7E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5760720"/>
            <a:ext cx="1463040" cy="1463040"/>
          </a:xfrm>
          <a:prstGeom prst="ellipse">
            <a:avLst/>
          </a:prstGeom>
          <a:solidFill>
            <a:srgbClr val="A9B8A3">
              <a:alpha val="3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A888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IDENTIDAD VISUAL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Tipografía</a:t>
            </a:r>
            <a:endParaRPr lang="en-US" sz="40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5074920" cy="4069080"/>
          </a:xfrm>
          <a:prstGeom prst="roundRect">
            <a:avLst>
              <a:gd name="adj" fmla="val 40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18872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88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TÍTULOS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88720" y="256032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Cormorant</a:t>
            </a:r>
            <a:endParaRPr lang="en-US" sz="52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52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Garamond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1188720" y="416052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A8884A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Aa  Bb  Cc  Dd  Ee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188720" y="4937760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Elegante, editorial y refinada. Se usa en encabezados, frases inspiracionales y nombres de producto.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965960"/>
            <a:ext cx="5166360" cy="4069080"/>
          </a:xfrm>
          <a:prstGeom prst="roundRect">
            <a:avLst>
              <a:gd name="adj" fmla="val 4045"/>
            </a:avLst>
          </a:prstGeom>
          <a:solidFill>
            <a:srgbClr val="A9B8A3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240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88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TEXTOS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37960" y="26060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55624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Montserrat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6537960" y="36118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Aa  Bb  Cc  Dd  Ee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3796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Light  </a:t>
            </a:r>
            <a:pPr indent="0" marL="0">
              <a:buNone/>
            </a:pPr>
            <a:r>
              <a:rPr lang="en-US" sz="140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Regular  </a:t>
            </a:r>
            <a:pPr indent="0" marL="0">
              <a:buNone/>
            </a:pPr>
            <a:r>
              <a:rPr lang="en-US" sz="140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Medium  </a:t>
            </a:r>
            <a:pPr indent="0" marL="0">
              <a:buNone/>
            </a:pPr>
            <a:r>
              <a:rPr lang="en-US" sz="1400" b="1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Bold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37960" y="493776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Limpia, moderna y muy legible. Se usa en párrafos, botones, menús y descripciones de producto.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155680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6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188720" y="-1280160"/>
            <a:ext cx="2926080" cy="2926080"/>
          </a:xfrm>
          <a:prstGeom prst="ellipse">
            <a:avLst/>
          </a:prstGeom>
          <a:solidFill>
            <a:srgbClr val="A9B8A3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937760"/>
            <a:ext cx="2743200" cy="2743200"/>
          </a:xfrm>
          <a:prstGeom prst="ellipse">
            <a:avLst/>
          </a:prstGeom>
          <a:solidFill>
            <a:srgbClr val="E8D6DD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418320" y="5760720"/>
            <a:ext cx="1463040" cy="1463040"/>
          </a:xfrm>
          <a:prstGeom prst="ellipse">
            <a:avLst/>
          </a:prstGeom>
          <a:solidFill>
            <a:srgbClr val="CBB7E6">
              <a:alpha val="38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A888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DIRECCIÓN DE ARTE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9601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Estilo fotográfico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178308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Fotografías profesionales, limpias y luminosas, con abundante luz natural y espacio en blanco.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22960" y="2423160"/>
            <a:ext cx="338328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15568" y="2743200"/>
            <a:ext cx="868680" cy="868680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10" name="Image 0" descr="assets/lotu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07592" y="2935224"/>
            <a:ext cx="484632" cy="48463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148840" y="2807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Flores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2148840" y="32644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Lavanda · Manzanilla · Bergamota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98848" y="2423160"/>
            <a:ext cx="338328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91456" y="2743200"/>
            <a:ext cx="868680" cy="868680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15" name="Image 1" descr="assets/leaf_s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2935224"/>
            <a:ext cx="484632" cy="4846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824728" y="2807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Botánica</a:t>
            </a:r>
            <a:endParaRPr lang="en-US" sz="2100" dirty="0"/>
          </a:p>
        </p:txBody>
      </p:sp>
      <p:sp>
        <p:nvSpPr>
          <p:cNvPr id="17" name="Text 13"/>
          <p:cNvSpPr/>
          <p:nvPr/>
        </p:nvSpPr>
        <p:spPr>
          <a:xfrm>
            <a:off x="5824728" y="32644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Hojas frescas y plantas naturales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8174736" y="2423160"/>
            <a:ext cx="338328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467344" y="2743200"/>
            <a:ext cx="868680" cy="868680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20" name="Image 2" descr="assets/drop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9368" y="2935224"/>
            <a:ext cx="484632" cy="4846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500616" y="2807208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Texturas</a:t>
            </a:r>
            <a:endParaRPr lang="en-US" sz="2100" dirty="0"/>
          </a:p>
        </p:txBody>
      </p:sp>
      <p:sp>
        <p:nvSpPr>
          <p:cNvPr id="22" name="Text 17"/>
          <p:cNvSpPr/>
          <p:nvPr/>
        </p:nvSpPr>
        <p:spPr>
          <a:xfrm>
            <a:off x="9500616" y="3264408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Lino natural · Piedra clara · Cristal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22960" y="4407408"/>
            <a:ext cx="338328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1115568" y="4727448"/>
            <a:ext cx="868680" cy="868680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25" name="Image 3" descr="assets/plant_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7592" y="4919472"/>
            <a:ext cx="484632" cy="4846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148840" y="4791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Materiales</a:t>
            </a:r>
            <a:endParaRPr lang="en-US" sz="2100" dirty="0"/>
          </a:p>
        </p:txBody>
      </p:sp>
      <p:sp>
        <p:nvSpPr>
          <p:cNvPr id="27" name="Text 21"/>
          <p:cNvSpPr/>
          <p:nvPr/>
        </p:nvSpPr>
        <p:spPr>
          <a:xfrm>
            <a:off x="2148840" y="52486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Madera clara y acabados nobles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498848" y="4407408"/>
            <a:ext cx="338328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4791456" y="4727448"/>
            <a:ext cx="868680" cy="868680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30" name="Image 4" descr="assets/drop_s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3480" y="4919472"/>
            <a:ext cx="484632" cy="48463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824728" y="4791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El mar</a:t>
            </a:r>
            <a:endParaRPr lang="en-US" sz="2100" dirty="0"/>
          </a:p>
        </p:txBody>
      </p:sp>
      <p:sp>
        <p:nvSpPr>
          <p:cNvPr id="32" name="Text 25"/>
          <p:cNvSpPr/>
          <p:nvPr/>
        </p:nvSpPr>
        <p:spPr>
          <a:xfrm>
            <a:off x="5824728" y="52486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Agua, calma y horizonte sereno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8174736" y="4407408"/>
            <a:ext cx="3383280" cy="1691640"/>
          </a:xfrm>
          <a:prstGeom prst="roundRect">
            <a:avLst>
              <a:gd name="adj" fmla="val 864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9B9384">
                <a:alpha val="1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8467344" y="4727448"/>
            <a:ext cx="868680" cy="868680"/>
          </a:xfrm>
          <a:prstGeom prst="ellipse">
            <a:avLst/>
          </a:prstGeom>
          <a:solidFill>
            <a:srgbClr val="F8F6F2"/>
          </a:solidFill>
          <a:ln w="9525">
            <a:solidFill>
              <a:srgbClr val="C8A86B"/>
            </a:solidFill>
            <a:prstDash val="solid"/>
          </a:ln>
        </p:spPr>
      </p:sp>
      <p:pic>
        <p:nvPicPr>
          <p:cNvPr id="35" name="Image 5" descr="assets/sun_go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4919472"/>
            <a:ext cx="484632" cy="48463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9500616" y="4791456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55624E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Luz natural</a:t>
            </a:r>
            <a:endParaRPr lang="en-US" sz="2100" dirty="0"/>
          </a:p>
        </p:txBody>
      </p:sp>
      <p:sp>
        <p:nvSpPr>
          <p:cNvPr id="37" name="Text 29"/>
          <p:cNvSpPr/>
          <p:nvPr/>
        </p:nvSpPr>
        <p:spPr>
          <a:xfrm>
            <a:off x="9500616" y="5248656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Iluminación suave, cálida y difusa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11155680" y="6291072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200" kern="0" dirty="0">
                <a:solidFill>
                  <a:srgbClr val="726C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5562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solidFill>
            <a:srgbClr val="6E5B91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138160" y="2651760"/>
            <a:ext cx="6400800" cy="6400800"/>
          </a:xfrm>
          <a:prstGeom prst="ellipse">
            <a:avLst/>
          </a:prstGeom>
          <a:solidFill>
            <a:srgbClr val="7E8F76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212080" y="1371600"/>
            <a:ext cx="1737360" cy="1737360"/>
          </a:xfrm>
          <a:prstGeom prst="ellipse">
            <a:avLst/>
          </a:prstGeom>
          <a:solidFill>
            <a:srgbClr val="55624E"/>
          </a:solidFill>
          <a:ln w="12700">
            <a:solidFill>
              <a:srgbClr val="C8A86B"/>
            </a:solidFill>
            <a:prstDash val="solid"/>
          </a:ln>
        </p:spPr>
      </p:sp>
      <p:pic>
        <p:nvPicPr>
          <p:cNvPr id="5" name="Image 0" descr="assets/lotus_ivo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7373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38328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i="1" dirty="0">
                <a:solidFill>
                  <a:srgbClr val="F8F6F2"/>
                </a:solidFill>
                <a:latin typeface="Cormorant Garamond" pitchFamily="34" charset="0"/>
                <a:ea typeface="Cormorant Garamond" pitchFamily="34" charset="-122"/>
                <a:cs typeface="Cormorant Garamond" pitchFamily="34" charset="-120"/>
              </a:rPr>
              <a:t>Conecta con tu esencia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914400" y="452628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C8A86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SHANTI ESSENCE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2120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200" kern="0" dirty="0">
                <a:solidFill>
                  <a:srgbClr val="E8D6D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Bienestar · Aromaterapia · Aceites esenciales naturales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Shanti Essence — Brand Book</dc:title>
  <dc:subject>PptxGenJS Presentation</dc:subject>
  <dc:creator>Shanti Essence</dc:creator>
  <cp:lastModifiedBy>Shanti Essence</cp:lastModifiedBy>
  <cp:revision>1</cp:revision>
  <dcterms:created xsi:type="dcterms:W3CDTF">2026-06-19T17:19:49Z</dcterms:created>
  <dcterms:modified xsi:type="dcterms:W3CDTF">2026-06-19T17:19:49Z</dcterms:modified>
</cp:coreProperties>
</file>